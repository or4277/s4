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w Bold" charset="1" panose="00000800000000000000"/>
      <p:regular r:id="rId14"/>
    </p:embeddedFont>
    <p:embeddedFont>
      <p:font typeface="Now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58177"/>
            <a:chOff x="0" y="0"/>
            <a:chExt cx="4816593" cy="1937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937956"/>
            </a:xfrm>
            <a:custGeom>
              <a:avLst/>
              <a:gdLst/>
              <a:ahLst/>
              <a:cxnLst/>
              <a:rect r="r" b="b" t="t" l="l"/>
              <a:pathLst>
                <a:path h="19379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37956"/>
                  </a:lnTo>
                  <a:lnTo>
                    <a:pt x="0" y="1937956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1995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673235" y="2347003"/>
            <a:ext cx="7586065" cy="0"/>
          </a:xfrm>
          <a:prstGeom prst="line">
            <a:avLst/>
          </a:prstGeom>
          <a:ln cap="flat" w="28575">
            <a:solidFill>
              <a:srgbClr val="29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7903267" cy="10489790"/>
          </a:xfrm>
          <a:custGeom>
            <a:avLst/>
            <a:gdLst/>
            <a:ahLst/>
            <a:cxnLst/>
            <a:rect r="r" b="b" t="t" l="l"/>
            <a:pathLst>
              <a:path h="10489790" w="7903267">
                <a:moveTo>
                  <a:pt x="0" y="0"/>
                </a:moveTo>
                <a:lnTo>
                  <a:pt x="7903267" y="0"/>
                </a:lnTo>
                <a:lnTo>
                  <a:pt x="7903267" y="10489790"/>
                </a:lnTo>
                <a:lnTo>
                  <a:pt x="0" y="10489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32270" y="3816825"/>
            <a:ext cx="8926495" cy="189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92"/>
              </a:lnSpc>
            </a:pPr>
            <a:r>
              <a:rPr lang="en-US" sz="15874" b="true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Lait’s 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35135" y="1569128"/>
            <a:ext cx="812363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210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PRESENTÉ PAR LE GROUPE 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3267" y="7910627"/>
            <a:ext cx="10296949" cy="4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0"/>
              </a:lnSpc>
              <a:spcBef>
                <a:spcPct val="0"/>
              </a:spcBef>
            </a:pPr>
            <a:r>
              <a:rPr lang="en-US" sz="2578" spc="469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PROJET D’ELEVAGE BOVIN LAITIER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81451" y="647431"/>
            <a:ext cx="2777849" cy="38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35"/>
              </a:lnSpc>
              <a:spcBef>
                <a:spcPct val="0"/>
              </a:spcBef>
            </a:pPr>
            <a:r>
              <a:rPr lang="en-US" sz="2239" spc="13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19/03/26</a:t>
            </a:r>
          </a:p>
        </p:txBody>
      </p:sp>
      <p:grpSp>
        <p:nvGrpSpPr>
          <p:cNvPr name="Group 11" id="11"/>
          <p:cNvGrpSpPr/>
          <p:nvPr/>
        </p:nvGrpSpPr>
        <p:grpSpPr>
          <a:xfrm rot="9911">
            <a:off x="7908223" y="8762866"/>
            <a:ext cx="10580762" cy="3453849"/>
            <a:chOff x="0" y="0"/>
            <a:chExt cx="6350000" cy="20728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82550"/>
              <a:ext cx="6350000" cy="1988993"/>
            </a:xfrm>
            <a:custGeom>
              <a:avLst/>
              <a:gdLst/>
              <a:ahLst/>
              <a:cxnLst/>
              <a:rect r="r" b="b" t="t" l="l"/>
              <a:pathLst>
                <a:path h="1988993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1988993"/>
                  </a:lnTo>
                  <a:lnTo>
                    <a:pt x="6350000" y="1988993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B6D3EF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279631"/>
            <a:ext cx="10805058" cy="12073424"/>
            <a:chOff x="0" y="0"/>
            <a:chExt cx="2845777" cy="31798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5776" cy="3179832"/>
            </a:xfrm>
            <a:custGeom>
              <a:avLst/>
              <a:gdLst/>
              <a:ahLst/>
              <a:cxnLst/>
              <a:rect r="r" b="b" t="t" l="l"/>
              <a:pathLst>
                <a:path h="3179832" w="2845776">
                  <a:moveTo>
                    <a:pt x="0" y="0"/>
                  </a:moveTo>
                  <a:lnTo>
                    <a:pt x="2845776" y="0"/>
                  </a:lnTo>
                  <a:lnTo>
                    <a:pt x="2845776" y="3179832"/>
                  </a:lnTo>
                  <a:lnTo>
                    <a:pt x="0" y="3179832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45777" cy="3236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7826" y="3557648"/>
            <a:ext cx="526660" cy="526660"/>
            <a:chOff x="0" y="0"/>
            <a:chExt cx="138709" cy="138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67234" y="3557648"/>
            <a:ext cx="526660" cy="526660"/>
            <a:chOff x="0" y="0"/>
            <a:chExt cx="138709" cy="1387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7826" y="4602968"/>
            <a:ext cx="526660" cy="526660"/>
            <a:chOff x="0" y="0"/>
            <a:chExt cx="138709" cy="138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67234" y="4610553"/>
            <a:ext cx="526660" cy="526660"/>
            <a:chOff x="0" y="0"/>
            <a:chExt cx="138709" cy="138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7826" y="5653848"/>
            <a:ext cx="526660" cy="526660"/>
            <a:chOff x="0" y="0"/>
            <a:chExt cx="138709" cy="138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67234" y="5663373"/>
            <a:ext cx="526660" cy="526660"/>
            <a:chOff x="0" y="0"/>
            <a:chExt cx="138709" cy="138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7826" y="6713908"/>
            <a:ext cx="526660" cy="526660"/>
            <a:chOff x="0" y="0"/>
            <a:chExt cx="138709" cy="138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67234" y="6713908"/>
            <a:ext cx="526660" cy="526660"/>
            <a:chOff x="0" y="0"/>
            <a:chExt cx="138709" cy="1387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9937" y="7776102"/>
            <a:ext cx="526660" cy="526660"/>
            <a:chOff x="0" y="0"/>
            <a:chExt cx="138709" cy="1387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805058" y="-118218"/>
            <a:ext cx="7482942" cy="10454714"/>
          </a:xfrm>
          <a:custGeom>
            <a:avLst/>
            <a:gdLst/>
            <a:ahLst/>
            <a:cxnLst/>
            <a:rect r="r" b="b" t="t" l="l"/>
            <a:pathLst>
              <a:path h="10454714" w="7482942">
                <a:moveTo>
                  <a:pt x="0" y="0"/>
                </a:moveTo>
                <a:lnTo>
                  <a:pt x="7482942" y="0"/>
                </a:lnTo>
                <a:lnTo>
                  <a:pt x="7482942" y="10454714"/>
                </a:lnTo>
                <a:lnTo>
                  <a:pt x="0" y="10454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31" t="-40469" r="-23931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91397" y="3579334"/>
            <a:ext cx="254643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Olivier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98057" y="3579334"/>
            <a:ext cx="202849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Owan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91397" y="5675535"/>
            <a:ext cx="22080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Taarriq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98922" y="5709216"/>
            <a:ext cx="3234897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Danie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89948" y="4684397"/>
            <a:ext cx="241097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Itokiana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98922" y="4656395"/>
            <a:ext cx="338440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Iantra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91397" y="6723238"/>
            <a:ext cx="28607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Elisa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91397" y="7821592"/>
            <a:ext cx="24109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Noah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098057" y="6744031"/>
            <a:ext cx="29493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Nekena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057268"/>
            <a:ext cx="9937422" cy="164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26"/>
              </a:lnSpc>
            </a:pPr>
            <a:r>
              <a:rPr lang="en-US" sz="13795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Membres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267234" y="7764442"/>
            <a:ext cx="526660" cy="526660"/>
            <a:chOff x="0" y="0"/>
            <a:chExt cx="138709" cy="1387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8709" cy="138709"/>
            </a:xfrm>
            <a:custGeom>
              <a:avLst/>
              <a:gdLst/>
              <a:ahLst/>
              <a:cxnLst/>
              <a:rect r="r" b="b" t="t" l="l"/>
              <a:pathLst>
                <a:path h="138709" w="138709">
                  <a:moveTo>
                    <a:pt x="0" y="0"/>
                  </a:moveTo>
                  <a:lnTo>
                    <a:pt x="138709" y="0"/>
                  </a:lnTo>
                  <a:lnTo>
                    <a:pt x="138709" y="138709"/>
                  </a:lnTo>
                  <a:lnTo>
                    <a:pt x="0" y="138709"/>
                  </a:lnTo>
                  <a:close/>
                </a:path>
              </a:pathLst>
            </a:custGeom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38709" cy="18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098057" y="7804481"/>
            <a:ext cx="29493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7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Mahenitsoa</a:t>
            </a:r>
          </a:p>
        </p:txBody>
      </p:sp>
      <p:grpSp>
        <p:nvGrpSpPr>
          <p:cNvPr name="Group 47" id="47"/>
          <p:cNvGrpSpPr/>
          <p:nvPr/>
        </p:nvGrpSpPr>
        <p:grpSpPr>
          <a:xfrm rot="-10800000">
            <a:off x="9333819" y="-1119661"/>
            <a:ext cx="14439633" cy="2769291"/>
            <a:chOff x="0" y="0"/>
            <a:chExt cx="6350000" cy="12178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82550"/>
              <a:ext cx="6350000" cy="1134008"/>
            </a:xfrm>
            <a:custGeom>
              <a:avLst/>
              <a:gdLst/>
              <a:ahLst/>
              <a:cxnLst/>
              <a:rect r="r" b="b" t="t" l="l"/>
              <a:pathLst>
                <a:path h="1134008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1134008"/>
                  </a:lnTo>
                  <a:lnTo>
                    <a:pt x="6350000" y="1134008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CEE7F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695753" y="8951851"/>
            <a:ext cx="14439633" cy="2769291"/>
            <a:chOff x="0" y="0"/>
            <a:chExt cx="6350000" cy="12178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82550"/>
              <a:ext cx="6350000" cy="1134008"/>
            </a:xfrm>
            <a:custGeom>
              <a:avLst/>
              <a:gdLst/>
              <a:ahLst/>
              <a:cxnLst/>
              <a:rect r="r" b="b" t="t" l="l"/>
              <a:pathLst>
                <a:path h="1134008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1134008"/>
                  </a:lnTo>
                  <a:lnTo>
                    <a:pt x="6350000" y="1134008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CEE7F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-373365" y="9131436"/>
            <a:ext cx="11178423" cy="1983167"/>
            <a:chOff x="0" y="0"/>
            <a:chExt cx="2944111" cy="5223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44111" cy="522316"/>
            </a:xfrm>
            <a:custGeom>
              <a:avLst/>
              <a:gdLst/>
              <a:ahLst/>
              <a:cxnLst/>
              <a:rect r="r" b="b" t="t" l="l"/>
              <a:pathLst>
                <a:path h="522316" w="2944111">
                  <a:moveTo>
                    <a:pt x="0" y="0"/>
                  </a:moveTo>
                  <a:lnTo>
                    <a:pt x="2944111" y="0"/>
                  </a:lnTo>
                  <a:lnTo>
                    <a:pt x="2944111" y="522316"/>
                  </a:lnTo>
                  <a:lnTo>
                    <a:pt x="0" y="522316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2944111" cy="57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09562" y="92581"/>
            <a:ext cx="202741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107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GROUPE... - 4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09912" y="3096784"/>
            <a:ext cx="5255541" cy="8804497"/>
            <a:chOff x="0" y="0"/>
            <a:chExt cx="1384175" cy="2318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4175" cy="2318880"/>
            </a:xfrm>
            <a:custGeom>
              <a:avLst/>
              <a:gdLst/>
              <a:ahLst/>
              <a:cxnLst/>
              <a:rect r="r" b="b" t="t" l="l"/>
              <a:pathLst>
                <a:path h="2318880" w="1384175">
                  <a:moveTo>
                    <a:pt x="0" y="0"/>
                  </a:moveTo>
                  <a:lnTo>
                    <a:pt x="1384175" y="0"/>
                  </a:lnTo>
                  <a:lnTo>
                    <a:pt x="1384175" y="2318880"/>
                  </a:lnTo>
                  <a:lnTo>
                    <a:pt x="0" y="2318880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84175" cy="2376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5825" y="4666375"/>
            <a:ext cx="6257252" cy="4591925"/>
            <a:chOff x="0" y="0"/>
            <a:chExt cx="1648001" cy="1209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8001" cy="1209396"/>
            </a:xfrm>
            <a:custGeom>
              <a:avLst/>
              <a:gdLst/>
              <a:ahLst/>
              <a:cxnLst/>
              <a:rect r="r" b="b" t="t" l="l"/>
              <a:pathLst>
                <a:path h="1209396" w="1648001">
                  <a:moveTo>
                    <a:pt x="0" y="0"/>
                  </a:moveTo>
                  <a:lnTo>
                    <a:pt x="1648001" y="0"/>
                  </a:lnTo>
                  <a:lnTo>
                    <a:pt x="1648001" y="1209396"/>
                  </a:lnTo>
                  <a:lnTo>
                    <a:pt x="0" y="1209396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48001" cy="1266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55825" y="4666375"/>
            <a:ext cx="6257252" cy="8838"/>
          </a:xfrm>
          <a:prstGeom prst="line">
            <a:avLst/>
          </a:prstGeom>
          <a:ln cap="flat" w="28575">
            <a:solidFill>
              <a:srgbClr val="29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633652" y="3096784"/>
            <a:ext cx="5221926" cy="0"/>
          </a:xfrm>
          <a:prstGeom prst="line">
            <a:avLst/>
          </a:prstGeom>
          <a:ln cap="flat" w="28575">
            <a:solidFill>
              <a:srgbClr val="29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609912" y="2416309"/>
            <a:ext cx="285693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spc="210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OBEJCTIF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643344" y="799024"/>
            <a:ext cx="4547394" cy="10594037"/>
          </a:xfrm>
          <a:custGeom>
            <a:avLst/>
            <a:gdLst/>
            <a:ahLst/>
            <a:cxnLst/>
            <a:rect r="r" b="b" t="t" l="l"/>
            <a:pathLst>
              <a:path h="10594037" w="4547394">
                <a:moveTo>
                  <a:pt x="0" y="0"/>
                </a:moveTo>
                <a:lnTo>
                  <a:pt x="4547395" y="0"/>
                </a:lnTo>
                <a:lnTo>
                  <a:pt x="4547395" y="10594037"/>
                </a:lnTo>
                <a:lnTo>
                  <a:pt x="0" y="1059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254" t="0" r="-3805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3935" y="646624"/>
            <a:ext cx="6538706" cy="136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5"/>
              </a:lnSpc>
              <a:spcBef>
                <a:spcPct val="0"/>
              </a:spcBef>
            </a:pPr>
            <a:r>
              <a:rPr lang="en-US" sz="800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3538" y="2016060"/>
            <a:ext cx="7705486" cy="154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933" spc="17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À Madagascar, la production de lait est insuffisante alors que la demande est élevée (ménages, écoles, entreprises), ce qui crée une opportunité de développer une activité rentable et durable.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6152" y="3310645"/>
            <a:ext cx="4572435" cy="370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3679"/>
              </a:lnSpc>
              <a:buFont typeface="Arial"/>
              <a:buChar char="•"/>
            </a:pPr>
            <a:r>
              <a:rPr lang="en-US" sz="2299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Produire et vendre du lait quotidiennement</a:t>
            </a:r>
          </a:p>
          <a:p>
            <a:pPr algn="l" marL="496566" indent="-248283" lvl="1">
              <a:lnSpc>
                <a:spcPts val="3679"/>
              </a:lnSpc>
              <a:buFont typeface="Arial"/>
              <a:buChar char="•"/>
            </a:pPr>
            <a:r>
              <a:rPr lang="en-US" sz="2299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Répondre à la demande locale</a:t>
            </a:r>
          </a:p>
          <a:p>
            <a:pPr algn="l" marL="496566" indent="-248283" lvl="1">
              <a:lnSpc>
                <a:spcPts val="3679"/>
              </a:lnSpc>
              <a:buFont typeface="Arial"/>
              <a:buChar char="•"/>
            </a:pPr>
            <a:r>
              <a:rPr lang="en-US" sz="2299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Générer un profit stable</a:t>
            </a:r>
          </a:p>
          <a:p>
            <a:pPr algn="l" marL="496566" indent="-248283" lvl="1">
              <a:lnSpc>
                <a:spcPts val="3679"/>
              </a:lnSpc>
              <a:buFont typeface="Arial"/>
              <a:buChar char="•"/>
            </a:pPr>
            <a:r>
              <a:rPr lang="en-US" sz="2299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Rentabiliser rapidement l’investissement</a:t>
            </a:r>
          </a:p>
          <a:p>
            <a:pPr algn="l">
              <a:lnSpc>
                <a:spcPts val="36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95776" y="4794275"/>
            <a:ext cx="5975025" cy="260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567" indent="-237784" lvl="1">
              <a:lnSpc>
                <a:spcPts val="3524"/>
              </a:lnSpc>
              <a:buFont typeface="Arial"/>
              <a:buChar char="•"/>
            </a:pPr>
            <a:r>
              <a:rPr lang="en-US" sz="2202" spc="19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Il y a une pénurie de lait à Madagascar.</a:t>
            </a:r>
          </a:p>
          <a:p>
            <a:pPr algn="l" marL="475567" indent="-237784" lvl="1">
              <a:lnSpc>
                <a:spcPts val="3524"/>
              </a:lnSpc>
              <a:buFont typeface="Arial"/>
              <a:buChar char="•"/>
            </a:pPr>
            <a:r>
              <a:rPr lang="en-US" sz="2202" spc="19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Forte demande (écoles, entreprises, quartiers résidentiels).</a:t>
            </a:r>
          </a:p>
          <a:p>
            <a:pPr algn="l" marL="475567" indent="-237784" lvl="1">
              <a:lnSpc>
                <a:spcPts val="3524"/>
              </a:lnSpc>
              <a:buFont typeface="Arial"/>
              <a:buChar char="•"/>
            </a:pPr>
            <a:r>
              <a:rPr lang="en-US" sz="2202" spc="19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Manque de production professionnelle.</a:t>
            </a:r>
          </a:p>
          <a:p>
            <a:pPr algn="l" marL="475567" indent="-237784" lvl="1">
              <a:lnSpc>
                <a:spcPts val="3524"/>
              </a:lnSpc>
              <a:buFont typeface="Arial"/>
              <a:buChar char="•"/>
            </a:pPr>
            <a:r>
              <a:rPr lang="en-US" sz="2202" spc="19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Un marché sûr.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538" y="301819"/>
            <a:ext cx="202741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107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GROUPE... - 4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948" y="3994737"/>
            <a:ext cx="645369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210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POURQUOI CE PROJET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9952" y="7242200"/>
            <a:ext cx="6117301" cy="173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4"/>
              </a:lnSpc>
            </a:pPr>
          </a:p>
          <a:p>
            <a:pPr algn="l">
              <a:lnSpc>
                <a:spcPts val="3524"/>
              </a:lnSpc>
            </a:pPr>
          </a:p>
          <a:p>
            <a:pPr algn="l">
              <a:lnSpc>
                <a:spcPts val="3524"/>
              </a:lnSpc>
            </a:pPr>
            <a:r>
              <a:rPr lang="en-US" sz="2202" spc="19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Conclusion : Grande opportunité opportunité de business</a:t>
            </a:r>
          </a:p>
        </p:txBody>
      </p:sp>
      <p:grpSp>
        <p:nvGrpSpPr>
          <p:cNvPr name="Group 19" id="19"/>
          <p:cNvGrpSpPr/>
          <p:nvPr/>
        </p:nvGrpSpPr>
        <p:grpSpPr>
          <a:xfrm rot="4944888">
            <a:off x="13567763" y="-4439722"/>
            <a:ext cx="4990049" cy="10936844"/>
            <a:chOff x="0" y="0"/>
            <a:chExt cx="6653398" cy="14582459"/>
          </a:xfrm>
        </p:grpSpPr>
        <p:sp>
          <p:nvSpPr>
            <p:cNvPr name="Freeform 20" id="20"/>
            <p:cNvSpPr/>
            <p:nvPr/>
          </p:nvSpPr>
          <p:spPr>
            <a:xfrm flipH="false" flipV="false" rot="5459731">
              <a:off x="954284" y="10558847"/>
              <a:ext cx="3941139" cy="4036549"/>
            </a:xfrm>
            <a:custGeom>
              <a:avLst/>
              <a:gdLst/>
              <a:ahLst/>
              <a:cxnLst/>
              <a:rect r="r" b="b" t="t" l="l"/>
              <a:pathLst>
                <a:path h="4036549" w="3941139">
                  <a:moveTo>
                    <a:pt x="0" y="0"/>
                  </a:moveTo>
                  <a:lnTo>
                    <a:pt x="3941139" y="0"/>
                  </a:lnTo>
                  <a:lnTo>
                    <a:pt x="3941139" y="4036548"/>
                  </a:lnTo>
                  <a:lnTo>
                    <a:pt x="0" y="4036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2462692">
              <a:off x="2342135" y="2532747"/>
              <a:ext cx="3553129" cy="3639145"/>
            </a:xfrm>
            <a:custGeom>
              <a:avLst/>
              <a:gdLst/>
              <a:ahLst/>
              <a:cxnLst/>
              <a:rect r="r" b="b" t="t" l="l"/>
              <a:pathLst>
                <a:path h="3639145" w="3553129">
                  <a:moveTo>
                    <a:pt x="0" y="0"/>
                  </a:moveTo>
                  <a:lnTo>
                    <a:pt x="3553129" y="0"/>
                  </a:lnTo>
                  <a:lnTo>
                    <a:pt x="3553129" y="3639145"/>
                  </a:lnTo>
                  <a:lnTo>
                    <a:pt x="0" y="3639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5994245">
              <a:off x="-4560827" y="5896979"/>
              <a:ext cx="14273219" cy="2737375"/>
              <a:chOff x="0" y="0"/>
              <a:chExt cx="6350000" cy="121782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7106" y="2551504"/>
            <a:ext cx="8175087" cy="502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999"/>
              </a:lnSpc>
              <a:buFont typeface="Arial"/>
              <a:buChar char="•"/>
            </a:pPr>
            <a:r>
              <a:rPr lang="en-US" sz="2499" spc="22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Demande (forte) : consommation élevée</a:t>
            </a:r>
          </a:p>
          <a:p>
            <a:pPr algn="l" marL="539745" indent="-269872" lvl="1">
              <a:lnSpc>
                <a:spcPts val="3999"/>
              </a:lnSpc>
              <a:buFont typeface="Arial"/>
              <a:buChar char="•"/>
            </a:pPr>
            <a:r>
              <a:rPr lang="en-US" sz="2499" spc="22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Offre (limitée) : peu d’éleveurs professionnels</a:t>
            </a:r>
          </a:p>
          <a:p>
            <a:pPr algn="l" marL="539745" indent="-269872" lvl="1">
              <a:lnSpc>
                <a:spcPts val="3999"/>
              </a:lnSpc>
              <a:buFont typeface="Arial"/>
              <a:buChar char="•"/>
            </a:pPr>
            <a:r>
              <a:rPr lang="en-US" sz="2499" spc="22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Opportunités : transformation (yaourt, lait caillé) + vente directe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2499" spc="22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C’est un marché stable, rentable et peu saturé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2499" spc="22" b="true">
                <a:solidFill>
                  <a:srgbClr val="343434"/>
                </a:solidFill>
                <a:latin typeface="Now Bold"/>
                <a:ea typeface="Now Bold"/>
                <a:cs typeface="Now Bold"/>
                <a:sym typeface="Now Bold"/>
              </a:rPr>
              <a:t>Cible : </a:t>
            </a:r>
            <a:r>
              <a:rPr lang="en-US" sz="2499" spc="22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Voisinage , épiceries , écoles , entreprises</a:t>
            </a:r>
          </a:p>
          <a:p>
            <a:pPr algn="l">
              <a:lnSpc>
                <a:spcPts val="3999"/>
              </a:lnSpc>
            </a:pPr>
            <a:r>
              <a:rPr lang="en-US" sz="2499" spc="22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Clients réguliers = revenus stables</a:t>
            </a:r>
          </a:p>
          <a:p>
            <a:pPr algn="l">
              <a:lnSpc>
                <a:spcPts val="39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03538" y="1222474"/>
            <a:ext cx="9303951" cy="93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2"/>
              </a:lnSpc>
              <a:spcBef>
                <a:spcPct val="0"/>
              </a:spcBef>
            </a:pPr>
            <a:r>
              <a:rPr lang="en-US" b="true" sz="5480" spc="-104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Analyse du marché + Cible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423112" y="0"/>
            <a:ext cx="6788463" cy="10287000"/>
          </a:xfrm>
          <a:custGeom>
            <a:avLst/>
            <a:gdLst/>
            <a:ahLst/>
            <a:cxnLst/>
            <a:rect r="r" b="b" t="t" l="l"/>
            <a:pathLst>
              <a:path h="10287000" w="6788463">
                <a:moveTo>
                  <a:pt x="0" y="0"/>
                </a:moveTo>
                <a:lnTo>
                  <a:pt x="6788463" y="0"/>
                </a:lnTo>
                <a:lnTo>
                  <a:pt x="678846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16" t="0" r="-103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3538" y="555380"/>
            <a:ext cx="210548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107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GROUPE... - 4</a:t>
            </a:r>
          </a:p>
        </p:txBody>
      </p:sp>
      <p:grpSp>
        <p:nvGrpSpPr>
          <p:cNvPr name="Group 6" id="6"/>
          <p:cNvGrpSpPr/>
          <p:nvPr/>
        </p:nvGrpSpPr>
        <p:grpSpPr>
          <a:xfrm rot="4944888">
            <a:off x="12322319" y="-5128503"/>
            <a:ext cx="4990049" cy="10936844"/>
            <a:chOff x="0" y="0"/>
            <a:chExt cx="6653398" cy="14582459"/>
          </a:xfrm>
        </p:grpSpPr>
        <p:sp>
          <p:nvSpPr>
            <p:cNvPr name="Freeform 7" id="7"/>
            <p:cNvSpPr/>
            <p:nvPr/>
          </p:nvSpPr>
          <p:spPr>
            <a:xfrm flipH="false" flipV="false" rot="5459731">
              <a:off x="954284" y="10558847"/>
              <a:ext cx="3941139" cy="4036549"/>
            </a:xfrm>
            <a:custGeom>
              <a:avLst/>
              <a:gdLst/>
              <a:ahLst/>
              <a:cxnLst/>
              <a:rect r="r" b="b" t="t" l="l"/>
              <a:pathLst>
                <a:path h="4036549" w="3941139">
                  <a:moveTo>
                    <a:pt x="0" y="0"/>
                  </a:moveTo>
                  <a:lnTo>
                    <a:pt x="3941139" y="0"/>
                  </a:lnTo>
                  <a:lnTo>
                    <a:pt x="3941139" y="4036548"/>
                  </a:lnTo>
                  <a:lnTo>
                    <a:pt x="0" y="4036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2462692">
              <a:off x="2342135" y="2532747"/>
              <a:ext cx="3553129" cy="3639145"/>
            </a:xfrm>
            <a:custGeom>
              <a:avLst/>
              <a:gdLst/>
              <a:ahLst/>
              <a:cxnLst/>
              <a:rect r="r" b="b" t="t" l="l"/>
              <a:pathLst>
                <a:path h="3639145" w="3553129">
                  <a:moveTo>
                    <a:pt x="0" y="0"/>
                  </a:moveTo>
                  <a:lnTo>
                    <a:pt x="3553129" y="0"/>
                  </a:lnTo>
                  <a:lnTo>
                    <a:pt x="3553129" y="3639145"/>
                  </a:lnTo>
                  <a:lnTo>
                    <a:pt x="0" y="3639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5994245">
              <a:off x="-4560827" y="5896979"/>
              <a:ext cx="14273219" cy="2737375"/>
              <a:chOff x="0" y="0"/>
              <a:chExt cx="6350000" cy="121782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4944888">
            <a:off x="13518619" y="-7807449"/>
            <a:ext cx="8063169" cy="17672298"/>
            <a:chOff x="0" y="0"/>
            <a:chExt cx="10750892" cy="23563064"/>
          </a:xfrm>
        </p:grpSpPr>
        <p:sp>
          <p:nvSpPr>
            <p:cNvPr name="Freeform 3" id="3"/>
            <p:cNvSpPr/>
            <p:nvPr/>
          </p:nvSpPr>
          <p:spPr>
            <a:xfrm flipH="false" flipV="false" rot="5459731">
              <a:off x="1541979" y="17061511"/>
              <a:ext cx="6368289" cy="6522456"/>
            </a:xfrm>
            <a:custGeom>
              <a:avLst/>
              <a:gdLst/>
              <a:ahLst/>
              <a:cxnLst/>
              <a:rect r="r" b="b" t="t" l="l"/>
              <a:pathLst>
                <a:path h="6522456" w="6368289">
                  <a:moveTo>
                    <a:pt x="0" y="0"/>
                  </a:moveTo>
                  <a:lnTo>
                    <a:pt x="6368290" y="0"/>
                  </a:lnTo>
                  <a:lnTo>
                    <a:pt x="6368290" y="6522456"/>
                  </a:lnTo>
                  <a:lnTo>
                    <a:pt x="0" y="652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2462692">
              <a:off x="3784538" y="4092539"/>
              <a:ext cx="5741322" cy="5880312"/>
            </a:xfrm>
            <a:custGeom>
              <a:avLst/>
              <a:gdLst/>
              <a:ahLst/>
              <a:cxnLst/>
              <a:rect r="r" b="b" t="t" l="l"/>
              <a:pathLst>
                <a:path h="5880312" w="5741322">
                  <a:moveTo>
                    <a:pt x="0" y="0"/>
                  </a:moveTo>
                  <a:lnTo>
                    <a:pt x="5741323" y="0"/>
                  </a:lnTo>
                  <a:lnTo>
                    <a:pt x="5741323" y="5880311"/>
                  </a:lnTo>
                  <a:lnTo>
                    <a:pt x="0" y="5880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5994245">
              <a:off x="-7369611" y="9528632"/>
              <a:ext cx="23063378" cy="4423187"/>
              <a:chOff x="0" y="0"/>
              <a:chExt cx="6350000" cy="1217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  <p:sp>
        <p:nvSpPr>
          <p:cNvPr name="AutoShape 7" id="7"/>
          <p:cNvSpPr/>
          <p:nvPr/>
        </p:nvSpPr>
        <p:spPr>
          <a:xfrm>
            <a:off x="-175426" y="4818775"/>
            <a:ext cx="18764919" cy="1123"/>
          </a:xfrm>
          <a:prstGeom prst="line">
            <a:avLst/>
          </a:prstGeom>
          <a:ln cap="flat" w="28575">
            <a:solidFill>
              <a:srgbClr val="2928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-29221" y="4819897"/>
            <a:ext cx="18618714" cy="5747429"/>
            <a:chOff x="0" y="0"/>
            <a:chExt cx="4903694" cy="15137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03694" cy="1513726"/>
            </a:xfrm>
            <a:custGeom>
              <a:avLst/>
              <a:gdLst/>
              <a:ahLst/>
              <a:cxnLst/>
              <a:rect r="r" b="b" t="t" l="l"/>
              <a:pathLst>
                <a:path h="1513726" w="4903694">
                  <a:moveTo>
                    <a:pt x="0" y="0"/>
                  </a:moveTo>
                  <a:lnTo>
                    <a:pt x="4903694" y="0"/>
                  </a:lnTo>
                  <a:lnTo>
                    <a:pt x="4903694" y="1513726"/>
                  </a:lnTo>
                  <a:lnTo>
                    <a:pt x="0" y="1513726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903694" cy="1570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31768" y="5830550"/>
            <a:ext cx="1241293" cy="1861940"/>
          </a:xfrm>
          <a:custGeom>
            <a:avLst/>
            <a:gdLst/>
            <a:ahLst/>
            <a:cxnLst/>
            <a:rect r="r" b="b" t="t" l="l"/>
            <a:pathLst>
              <a:path h="1861940" w="1241293">
                <a:moveTo>
                  <a:pt x="0" y="0"/>
                </a:moveTo>
                <a:lnTo>
                  <a:pt x="1241294" y="0"/>
                </a:lnTo>
                <a:lnTo>
                  <a:pt x="1241294" y="1861939"/>
                </a:lnTo>
                <a:lnTo>
                  <a:pt x="0" y="1861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6320" y="5830550"/>
            <a:ext cx="1241293" cy="1861940"/>
          </a:xfrm>
          <a:custGeom>
            <a:avLst/>
            <a:gdLst/>
            <a:ahLst/>
            <a:cxnLst/>
            <a:rect r="r" b="b" t="t" l="l"/>
            <a:pathLst>
              <a:path h="1861940" w="1241293">
                <a:moveTo>
                  <a:pt x="0" y="0"/>
                </a:moveTo>
                <a:lnTo>
                  <a:pt x="1241293" y="0"/>
                </a:lnTo>
                <a:lnTo>
                  <a:pt x="1241293" y="1861939"/>
                </a:lnTo>
                <a:lnTo>
                  <a:pt x="0" y="1861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07465" y="5830550"/>
            <a:ext cx="1120525" cy="1861940"/>
          </a:xfrm>
          <a:custGeom>
            <a:avLst/>
            <a:gdLst/>
            <a:ahLst/>
            <a:cxnLst/>
            <a:rect r="r" b="b" t="t" l="l"/>
            <a:pathLst>
              <a:path h="1861940" w="1120525">
                <a:moveTo>
                  <a:pt x="0" y="0"/>
                </a:moveTo>
                <a:lnTo>
                  <a:pt x="1120525" y="0"/>
                </a:lnTo>
                <a:lnTo>
                  <a:pt x="1120525" y="1861939"/>
                </a:lnTo>
                <a:lnTo>
                  <a:pt x="0" y="1861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77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91215" y="5830550"/>
            <a:ext cx="1275000" cy="1861940"/>
          </a:xfrm>
          <a:custGeom>
            <a:avLst/>
            <a:gdLst/>
            <a:ahLst/>
            <a:cxnLst/>
            <a:rect r="r" b="b" t="t" l="l"/>
            <a:pathLst>
              <a:path h="1861940" w="1275000">
                <a:moveTo>
                  <a:pt x="0" y="0"/>
                </a:moveTo>
                <a:lnTo>
                  <a:pt x="1275000" y="0"/>
                </a:lnTo>
                <a:lnTo>
                  <a:pt x="1275000" y="1861939"/>
                </a:lnTo>
                <a:lnTo>
                  <a:pt x="0" y="1861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7" r="0" b="-135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616551" y="5830550"/>
            <a:ext cx="1093815" cy="1861940"/>
          </a:xfrm>
          <a:custGeom>
            <a:avLst/>
            <a:gdLst/>
            <a:ahLst/>
            <a:cxnLst/>
            <a:rect r="r" b="b" t="t" l="l"/>
            <a:pathLst>
              <a:path h="1861940" w="1093815">
                <a:moveTo>
                  <a:pt x="0" y="0"/>
                </a:moveTo>
                <a:lnTo>
                  <a:pt x="1093814" y="0"/>
                </a:lnTo>
                <a:lnTo>
                  <a:pt x="1093814" y="1861939"/>
                </a:lnTo>
                <a:lnTo>
                  <a:pt x="0" y="1861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482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6089079" y="4819897"/>
            <a:ext cx="111614" cy="5468225"/>
          </a:xfrm>
          <a:prstGeom prst="line">
            <a:avLst/>
          </a:prstGeom>
          <a:ln cap="flat" w="28575">
            <a:solidFill>
              <a:srgbClr val="29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128304" y="4819897"/>
            <a:ext cx="0" cy="5468225"/>
          </a:xfrm>
          <a:prstGeom prst="line">
            <a:avLst/>
          </a:prstGeom>
          <a:ln cap="flat" w="28575">
            <a:solidFill>
              <a:srgbClr val="29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4282868" y="6877800"/>
            <a:ext cx="4005132" cy="3465424"/>
          </a:xfrm>
          <a:custGeom>
            <a:avLst/>
            <a:gdLst/>
            <a:ahLst/>
            <a:cxnLst/>
            <a:rect r="r" b="b" t="t" l="l"/>
            <a:pathLst>
              <a:path h="3465424" w="4005132">
                <a:moveTo>
                  <a:pt x="0" y="0"/>
                </a:moveTo>
                <a:lnTo>
                  <a:pt x="4005132" y="0"/>
                </a:lnTo>
                <a:lnTo>
                  <a:pt x="4005132" y="3465424"/>
                </a:lnTo>
                <a:lnTo>
                  <a:pt x="0" y="3465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878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180195" y="8610512"/>
            <a:ext cx="5849536" cy="1634826"/>
          </a:xfrm>
          <a:custGeom>
            <a:avLst/>
            <a:gdLst/>
            <a:ahLst/>
            <a:cxnLst/>
            <a:rect r="r" b="b" t="t" l="l"/>
            <a:pathLst>
              <a:path h="1634826" w="5849536">
                <a:moveTo>
                  <a:pt x="0" y="0"/>
                </a:moveTo>
                <a:lnTo>
                  <a:pt x="5849536" y="0"/>
                </a:lnTo>
                <a:lnTo>
                  <a:pt x="5849536" y="1634826"/>
                </a:lnTo>
                <a:lnTo>
                  <a:pt x="0" y="16348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08" t="-107111" r="-1334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78349" y="1596948"/>
            <a:ext cx="9852819" cy="9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2"/>
              </a:lnSpc>
              <a:spcBef>
                <a:spcPct val="0"/>
              </a:spcBef>
            </a:pPr>
            <a:r>
              <a:rPr lang="en-US" b="true" sz="5780" spc="-109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Mise en place du projet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5938" y="454219"/>
            <a:ext cx="666504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107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GROUPE... -  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1768" y="3717073"/>
            <a:ext cx="4831690" cy="111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b="true" sz="3151" spc="189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INVESTISSEMENT INITIAL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1768" y="5125185"/>
            <a:ext cx="4973741" cy="5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9"/>
              </a:lnSpc>
            </a:pPr>
            <a:r>
              <a:rPr lang="en-US" sz="2856" spc="25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5 vaches × 4 000 000 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1018" y="7853380"/>
            <a:ext cx="4973741" cy="5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9"/>
              </a:lnSpc>
            </a:pPr>
            <a:r>
              <a:rPr lang="en-US" sz="3056" spc="27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➡ Total : </a:t>
            </a:r>
            <a:r>
              <a:rPr lang="en-US" sz="3056" spc="27" b="true">
                <a:solidFill>
                  <a:srgbClr val="343434"/>
                </a:solidFill>
                <a:latin typeface="Now Bold"/>
                <a:ea typeface="Now Bold"/>
                <a:cs typeface="Now Bold"/>
                <a:sym typeface="Now Bold"/>
              </a:rPr>
              <a:t>20 000 000 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00693" y="4065395"/>
            <a:ext cx="4831690" cy="5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b="true" sz="3151" spc="189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ALIMENTATION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07383" y="3995844"/>
            <a:ext cx="4831690" cy="5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b="true" sz="3151" spc="189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PRODUCTION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57130" y="5125185"/>
            <a:ext cx="4973741" cy="5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9"/>
              </a:lnSpc>
            </a:pPr>
            <a:r>
              <a:rPr lang="en-US" sz="2856" spc="25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Budget : 1 500 000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57130" y="6748403"/>
            <a:ext cx="4973741" cy="167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9"/>
              </a:lnSpc>
            </a:pPr>
            <a:r>
              <a:rPr lang="en-US" sz="2856" spc="25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Influence directe sur :</a:t>
            </a:r>
          </a:p>
          <a:p>
            <a:pPr algn="l">
              <a:lnSpc>
                <a:spcPts val="4569"/>
              </a:lnSpc>
            </a:pPr>
            <a:r>
              <a:rPr lang="en-US" sz="2856" spc="25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 ✔ quantité de lait</a:t>
            </a:r>
          </a:p>
          <a:p>
            <a:pPr algn="l">
              <a:lnSpc>
                <a:spcPts val="4569"/>
              </a:lnSpc>
            </a:pPr>
            <a:r>
              <a:rPr lang="en-US" sz="2856" spc="25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 ✔ qualité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07383" y="5125185"/>
            <a:ext cx="4973741" cy="1102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9"/>
              </a:lnSpc>
            </a:pPr>
            <a:r>
              <a:rPr lang="en-US" sz="2856" spc="25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1 vache = 10 L / jour</a:t>
            </a:r>
          </a:p>
          <a:p>
            <a:pPr algn="l">
              <a:lnSpc>
                <a:spcPts val="4569"/>
              </a:lnSpc>
            </a:pPr>
            <a:r>
              <a:rPr lang="en-US" sz="2856" spc="25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5 vaches = 50 L / jour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294" y="5953142"/>
            <a:ext cx="2002831" cy="1659351"/>
            <a:chOff x="0" y="0"/>
            <a:chExt cx="98104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1047" cy="812800"/>
            </a:xfrm>
            <a:custGeom>
              <a:avLst/>
              <a:gdLst/>
              <a:ahLst/>
              <a:cxnLst/>
              <a:rect r="r" b="b" t="t" l="l"/>
              <a:pathLst>
                <a:path h="812800" w="981047">
                  <a:moveTo>
                    <a:pt x="0" y="0"/>
                  </a:moveTo>
                  <a:lnTo>
                    <a:pt x="981047" y="0"/>
                  </a:lnTo>
                  <a:lnTo>
                    <a:pt x="981047" y="812800"/>
                  </a:lnTo>
                  <a:lnTo>
                    <a:pt x="0" y="812800"/>
                  </a:lnTo>
                  <a:close/>
                </a:path>
              </a:pathLst>
            </a:custGeom>
            <a:ln w="28575" cap="sq">
              <a:solidFill>
                <a:srgbClr val="34343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81047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62498" y="5953142"/>
            <a:ext cx="2002831" cy="1659351"/>
            <a:chOff x="0" y="0"/>
            <a:chExt cx="98104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1047" cy="812800"/>
            </a:xfrm>
            <a:custGeom>
              <a:avLst/>
              <a:gdLst/>
              <a:ahLst/>
              <a:cxnLst/>
              <a:rect r="r" b="b" t="t" l="l"/>
              <a:pathLst>
                <a:path h="812800" w="981047">
                  <a:moveTo>
                    <a:pt x="0" y="0"/>
                  </a:moveTo>
                  <a:lnTo>
                    <a:pt x="981047" y="0"/>
                  </a:lnTo>
                  <a:lnTo>
                    <a:pt x="981047" y="812800"/>
                  </a:lnTo>
                  <a:lnTo>
                    <a:pt x="0" y="812800"/>
                  </a:lnTo>
                  <a:close/>
                </a:path>
              </a:pathLst>
            </a:custGeom>
            <a:ln w="28575" cap="sq">
              <a:solidFill>
                <a:srgbClr val="34343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81047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70228" y="5953142"/>
            <a:ext cx="2002831" cy="1659351"/>
            <a:chOff x="0" y="0"/>
            <a:chExt cx="98104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1047" cy="812800"/>
            </a:xfrm>
            <a:custGeom>
              <a:avLst/>
              <a:gdLst/>
              <a:ahLst/>
              <a:cxnLst/>
              <a:rect r="r" b="b" t="t" l="l"/>
              <a:pathLst>
                <a:path h="812800" w="981047">
                  <a:moveTo>
                    <a:pt x="0" y="0"/>
                  </a:moveTo>
                  <a:lnTo>
                    <a:pt x="981047" y="0"/>
                  </a:lnTo>
                  <a:lnTo>
                    <a:pt x="981047" y="812800"/>
                  </a:lnTo>
                  <a:lnTo>
                    <a:pt x="0" y="812800"/>
                  </a:lnTo>
                  <a:close/>
                </a:path>
              </a:pathLst>
            </a:custGeom>
            <a:ln w="28575" cap="sq">
              <a:solidFill>
                <a:srgbClr val="34343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81047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85101" y="6400056"/>
            <a:ext cx="18952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17">
                <a:solidFill>
                  <a:srgbClr val="343434"/>
                </a:solidFill>
                <a:latin typeface="Now Bold"/>
                <a:ea typeface="Now Bold"/>
                <a:cs typeface="Now Bold"/>
                <a:sym typeface="Now Bold"/>
              </a:rPr>
              <a:t>Prix : 3 000 Ar / litre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27880" y="6309584"/>
            <a:ext cx="1661306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17">
                <a:solidFill>
                  <a:srgbClr val="343434"/>
                </a:solidFill>
                <a:latin typeface="Now Bold"/>
                <a:ea typeface="Now Bold"/>
                <a:cs typeface="Now Bold"/>
                <a:sym typeface="Now Bold"/>
              </a:rPr>
              <a:t>➡ 50 000 Ar / jour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94053" y="6400056"/>
            <a:ext cx="16613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17">
                <a:solidFill>
                  <a:srgbClr val="343434"/>
                </a:solidFill>
                <a:latin typeface="Now Bold"/>
                <a:ea typeface="Now Bold"/>
                <a:cs typeface="Now Bold"/>
                <a:sym typeface="Now Bold"/>
              </a:rPr>
              <a:t>➡ 4 500 000 Ar / mois</a:t>
            </a:r>
          </a:p>
        </p:txBody>
      </p:sp>
      <p:grpSp>
        <p:nvGrpSpPr>
          <p:cNvPr name="Group 14" id="14"/>
          <p:cNvGrpSpPr/>
          <p:nvPr/>
        </p:nvGrpSpPr>
        <p:grpSpPr>
          <a:xfrm rot="4944888">
            <a:off x="11197988" y="-5779945"/>
            <a:ext cx="5998888" cy="13147949"/>
            <a:chOff x="0" y="0"/>
            <a:chExt cx="7998517" cy="17530599"/>
          </a:xfrm>
        </p:grpSpPr>
        <p:sp>
          <p:nvSpPr>
            <p:cNvPr name="Freeform 15" id="15"/>
            <p:cNvSpPr/>
            <p:nvPr/>
          </p:nvSpPr>
          <p:spPr>
            <a:xfrm flipH="false" flipV="false" rot="5459731">
              <a:off x="1147212" y="12693531"/>
              <a:ext cx="4737920" cy="4852619"/>
            </a:xfrm>
            <a:custGeom>
              <a:avLst/>
              <a:gdLst/>
              <a:ahLst/>
              <a:cxnLst/>
              <a:rect r="r" b="b" t="t" l="l"/>
              <a:pathLst>
                <a:path h="4852619" w="4737920">
                  <a:moveTo>
                    <a:pt x="0" y="0"/>
                  </a:moveTo>
                  <a:lnTo>
                    <a:pt x="4737920" y="0"/>
                  </a:lnTo>
                  <a:lnTo>
                    <a:pt x="4737920" y="4852619"/>
                  </a:lnTo>
                  <a:lnTo>
                    <a:pt x="0" y="4852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2462692">
              <a:off x="2815645" y="3044793"/>
              <a:ext cx="4271466" cy="4374872"/>
            </a:xfrm>
            <a:custGeom>
              <a:avLst/>
              <a:gdLst/>
              <a:ahLst/>
              <a:cxnLst/>
              <a:rect r="r" b="b" t="t" l="l"/>
              <a:pathLst>
                <a:path h="4374872" w="4271466">
                  <a:moveTo>
                    <a:pt x="0" y="0"/>
                  </a:moveTo>
                  <a:lnTo>
                    <a:pt x="4271465" y="0"/>
                  </a:lnTo>
                  <a:lnTo>
                    <a:pt x="4271465" y="4374872"/>
                  </a:lnTo>
                  <a:lnTo>
                    <a:pt x="0" y="4374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5994245">
              <a:off x="-5482890" y="7089172"/>
              <a:ext cx="17158839" cy="3290791"/>
              <a:chOff x="0" y="0"/>
              <a:chExt cx="6350000" cy="121782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  <p:grpSp>
        <p:nvGrpSpPr>
          <p:cNvPr name="Group 19" id="19"/>
          <p:cNvGrpSpPr/>
          <p:nvPr/>
        </p:nvGrpSpPr>
        <p:grpSpPr>
          <a:xfrm rot="4944888">
            <a:off x="-1356462" y="-6089190"/>
            <a:ext cx="5998888" cy="13147949"/>
            <a:chOff x="0" y="0"/>
            <a:chExt cx="7998517" cy="17530599"/>
          </a:xfrm>
        </p:grpSpPr>
        <p:sp>
          <p:nvSpPr>
            <p:cNvPr name="Freeform 20" id="20"/>
            <p:cNvSpPr/>
            <p:nvPr/>
          </p:nvSpPr>
          <p:spPr>
            <a:xfrm flipH="false" flipV="false" rot="5459731">
              <a:off x="1147212" y="12693531"/>
              <a:ext cx="4737920" cy="4852619"/>
            </a:xfrm>
            <a:custGeom>
              <a:avLst/>
              <a:gdLst/>
              <a:ahLst/>
              <a:cxnLst/>
              <a:rect r="r" b="b" t="t" l="l"/>
              <a:pathLst>
                <a:path h="4852619" w="4737920">
                  <a:moveTo>
                    <a:pt x="0" y="0"/>
                  </a:moveTo>
                  <a:lnTo>
                    <a:pt x="4737920" y="0"/>
                  </a:lnTo>
                  <a:lnTo>
                    <a:pt x="4737920" y="4852619"/>
                  </a:lnTo>
                  <a:lnTo>
                    <a:pt x="0" y="4852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2462692">
              <a:off x="2815645" y="3044793"/>
              <a:ext cx="4271466" cy="4374872"/>
            </a:xfrm>
            <a:custGeom>
              <a:avLst/>
              <a:gdLst/>
              <a:ahLst/>
              <a:cxnLst/>
              <a:rect r="r" b="b" t="t" l="l"/>
              <a:pathLst>
                <a:path h="4374872" w="4271466">
                  <a:moveTo>
                    <a:pt x="0" y="0"/>
                  </a:moveTo>
                  <a:lnTo>
                    <a:pt x="4271465" y="0"/>
                  </a:lnTo>
                  <a:lnTo>
                    <a:pt x="4271465" y="4374872"/>
                  </a:lnTo>
                  <a:lnTo>
                    <a:pt x="0" y="4374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5994245">
              <a:off x="-5482890" y="7089172"/>
              <a:ext cx="17158839" cy="3290791"/>
              <a:chOff x="0" y="0"/>
              <a:chExt cx="6350000" cy="121782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  <p:sp>
        <p:nvSpPr>
          <p:cNvPr name="AutoShape 24" id="24"/>
          <p:cNvSpPr/>
          <p:nvPr/>
        </p:nvSpPr>
        <p:spPr>
          <a:xfrm>
            <a:off x="2834125" y="6782818"/>
            <a:ext cx="828373" cy="0"/>
          </a:xfrm>
          <a:prstGeom prst="line">
            <a:avLst/>
          </a:prstGeom>
          <a:ln cap="flat" w="28575">
            <a:solidFill>
              <a:srgbClr val="3434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5665328" y="6782818"/>
            <a:ext cx="1104900" cy="0"/>
          </a:xfrm>
          <a:prstGeom prst="line">
            <a:avLst/>
          </a:prstGeom>
          <a:ln cap="flat" w="28575">
            <a:solidFill>
              <a:srgbClr val="3434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764086" y="1983126"/>
            <a:ext cx="8379914" cy="278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5"/>
              </a:lnSpc>
              <a:spcBef>
                <a:spcPct val="0"/>
              </a:spcBef>
            </a:pPr>
            <a:r>
              <a:rPr lang="en-US" sz="800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Revenus et stratégies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236085" y="2810756"/>
            <a:ext cx="4586036" cy="1586121"/>
            <a:chOff x="0" y="0"/>
            <a:chExt cx="3097272" cy="10712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97272" cy="1071219"/>
            </a:xfrm>
            <a:custGeom>
              <a:avLst/>
              <a:gdLst/>
              <a:ahLst/>
              <a:cxnLst/>
              <a:rect r="r" b="b" t="t" l="l"/>
              <a:pathLst>
                <a:path h="1071219" w="3097272">
                  <a:moveTo>
                    <a:pt x="0" y="0"/>
                  </a:moveTo>
                  <a:lnTo>
                    <a:pt x="3097272" y="0"/>
                  </a:lnTo>
                  <a:lnTo>
                    <a:pt x="3097272" y="1071219"/>
                  </a:lnTo>
                  <a:lnTo>
                    <a:pt x="0" y="1071219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097272" cy="112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36085" y="5470525"/>
            <a:ext cx="4586036" cy="1586121"/>
            <a:chOff x="0" y="0"/>
            <a:chExt cx="3097272" cy="10712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97272" cy="1071219"/>
            </a:xfrm>
            <a:custGeom>
              <a:avLst/>
              <a:gdLst/>
              <a:ahLst/>
              <a:cxnLst/>
              <a:rect r="r" b="b" t="t" l="l"/>
              <a:pathLst>
                <a:path h="1071219" w="3097272">
                  <a:moveTo>
                    <a:pt x="0" y="0"/>
                  </a:moveTo>
                  <a:lnTo>
                    <a:pt x="3097272" y="0"/>
                  </a:lnTo>
                  <a:lnTo>
                    <a:pt x="3097272" y="1071219"/>
                  </a:lnTo>
                  <a:lnTo>
                    <a:pt x="0" y="1071219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097272" cy="112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236085" y="8065662"/>
            <a:ext cx="4586036" cy="1586121"/>
            <a:chOff x="0" y="0"/>
            <a:chExt cx="3097272" cy="10712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97272" cy="1071219"/>
            </a:xfrm>
            <a:custGeom>
              <a:avLst/>
              <a:gdLst/>
              <a:ahLst/>
              <a:cxnLst/>
              <a:rect r="r" b="b" t="t" l="l"/>
              <a:pathLst>
                <a:path h="1071219" w="3097272">
                  <a:moveTo>
                    <a:pt x="0" y="0"/>
                  </a:moveTo>
                  <a:lnTo>
                    <a:pt x="3097272" y="0"/>
                  </a:lnTo>
                  <a:lnTo>
                    <a:pt x="3097272" y="1071219"/>
                  </a:lnTo>
                  <a:lnTo>
                    <a:pt x="0" y="1071219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3097272" cy="112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236085" y="2825043"/>
            <a:ext cx="4586036" cy="0"/>
          </a:xfrm>
          <a:prstGeom prst="line">
            <a:avLst/>
          </a:prstGeom>
          <a:ln cap="flat" w="28575">
            <a:solidFill>
              <a:srgbClr val="3434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1236085" y="5456238"/>
            <a:ext cx="4586036" cy="0"/>
          </a:xfrm>
          <a:prstGeom prst="line">
            <a:avLst/>
          </a:prstGeom>
          <a:ln cap="flat" w="28575">
            <a:solidFill>
              <a:srgbClr val="3434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1236085" y="8032324"/>
            <a:ext cx="4586036" cy="0"/>
          </a:xfrm>
          <a:prstGeom prst="line">
            <a:avLst/>
          </a:prstGeom>
          <a:ln cap="flat" w="28575">
            <a:solidFill>
              <a:srgbClr val="3434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236085" y="2501828"/>
            <a:ext cx="458603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113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VACHES :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36085" y="5133022"/>
            <a:ext cx="458603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113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ALIMENTATION 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36085" y="7694821"/>
            <a:ext cx="458603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113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AUTRES 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42405" y="1451707"/>
            <a:ext cx="7794494" cy="89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4"/>
              </a:lnSpc>
              <a:spcBef>
                <a:spcPct val="0"/>
              </a:spcBef>
            </a:pPr>
            <a:r>
              <a:rPr lang="en-US" sz="5210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Budget total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0738" y="759019"/>
            <a:ext cx="666504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119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GROUPE... -  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36085" y="9642258"/>
            <a:ext cx="5399038" cy="4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0"/>
              </a:lnSpc>
              <a:spcBef>
                <a:spcPct val="0"/>
              </a:spcBef>
            </a:pPr>
            <a:r>
              <a:rPr lang="en-US" sz="2578" spc="46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TOTAL : ~27 000 000 AR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59840" y="3398103"/>
            <a:ext cx="3534817" cy="4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  <a:spcBef>
                <a:spcPct val="0"/>
              </a:spcBef>
            </a:pPr>
            <a:r>
              <a:rPr lang="en-US" sz="2778" spc="50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20 000 000 AR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14845" y="6008365"/>
            <a:ext cx="3224808" cy="4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  <a:spcBef>
                <a:spcPct val="0"/>
              </a:spcBef>
            </a:pPr>
            <a:r>
              <a:rPr lang="en-US" sz="2778" spc="50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2 000 000 AR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12166" y="8532387"/>
            <a:ext cx="3230166" cy="4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  <a:spcBef>
                <a:spcPct val="0"/>
              </a:spcBef>
            </a:pPr>
            <a:r>
              <a:rPr lang="en-US" sz="2778" spc="50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5 000 000 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13874" y="-202097"/>
            <a:ext cx="7055195" cy="10691195"/>
          </a:xfrm>
          <a:custGeom>
            <a:avLst/>
            <a:gdLst/>
            <a:ahLst/>
            <a:cxnLst/>
            <a:rect r="r" b="b" t="t" l="l"/>
            <a:pathLst>
              <a:path h="10691195" w="7055195">
                <a:moveTo>
                  <a:pt x="0" y="0"/>
                </a:moveTo>
                <a:lnTo>
                  <a:pt x="7055195" y="0"/>
                </a:lnTo>
                <a:lnTo>
                  <a:pt x="7055195" y="10691194"/>
                </a:lnTo>
                <a:lnTo>
                  <a:pt x="0" y="10691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16" t="0" r="-103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944888">
            <a:off x="12733420" y="-4660595"/>
            <a:ext cx="4616102" cy="10117254"/>
            <a:chOff x="0" y="0"/>
            <a:chExt cx="6154803" cy="13489672"/>
          </a:xfrm>
        </p:grpSpPr>
        <p:sp>
          <p:nvSpPr>
            <p:cNvPr name="Freeform 4" id="4"/>
            <p:cNvSpPr/>
            <p:nvPr/>
          </p:nvSpPr>
          <p:spPr>
            <a:xfrm flipH="false" flipV="false" rot="5459731">
              <a:off x="882771" y="9767583"/>
              <a:ext cx="3645796" cy="3734056"/>
            </a:xfrm>
            <a:custGeom>
              <a:avLst/>
              <a:gdLst/>
              <a:ahLst/>
              <a:cxnLst/>
              <a:rect r="r" b="b" t="t" l="l"/>
              <a:pathLst>
                <a:path h="3734056" w="3645796">
                  <a:moveTo>
                    <a:pt x="0" y="0"/>
                  </a:moveTo>
                  <a:lnTo>
                    <a:pt x="3645796" y="0"/>
                  </a:lnTo>
                  <a:lnTo>
                    <a:pt x="3645796" y="3734055"/>
                  </a:lnTo>
                  <a:lnTo>
                    <a:pt x="0" y="3734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2462692">
              <a:off x="2166619" y="2342947"/>
              <a:ext cx="3286863" cy="3366433"/>
            </a:xfrm>
            <a:custGeom>
              <a:avLst/>
              <a:gdLst/>
              <a:ahLst/>
              <a:cxnLst/>
              <a:rect r="r" b="b" t="t" l="l"/>
              <a:pathLst>
                <a:path h="3366433" w="3286863">
                  <a:moveTo>
                    <a:pt x="0" y="0"/>
                  </a:moveTo>
                  <a:lnTo>
                    <a:pt x="3286862" y="0"/>
                  </a:lnTo>
                  <a:lnTo>
                    <a:pt x="3286862" y="3366432"/>
                  </a:lnTo>
                  <a:lnTo>
                    <a:pt x="0" y="3366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5994245">
              <a:off x="-4219045" y="5455068"/>
              <a:ext cx="13203605" cy="2532240"/>
              <a:chOff x="0" y="0"/>
              <a:chExt cx="6350000" cy="121782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460625" y="4971175"/>
            <a:ext cx="6257252" cy="4591925"/>
            <a:chOff x="0" y="0"/>
            <a:chExt cx="1648001" cy="1209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8001" cy="1209396"/>
            </a:xfrm>
            <a:custGeom>
              <a:avLst/>
              <a:gdLst/>
              <a:ahLst/>
              <a:cxnLst/>
              <a:rect r="r" b="b" t="t" l="l"/>
              <a:pathLst>
                <a:path h="1209396" w="1648001">
                  <a:moveTo>
                    <a:pt x="0" y="0"/>
                  </a:moveTo>
                  <a:lnTo>
                    <a:pt x="1648001" y="0"/>
                  </a:lnTo>
                  <a:lnTo>
                    <a:pt x="1648001" y="1209396"/>
                  </a:lnTo>
                  <a:lnTo>
                    <a:pt x="0" y="1209396"/>
                  </a:lnTo>
                  <a:close/>
                </a:path>
              </a:pathLst>
            </a:custGeom>
            <a:solidFill>
              <a:srgbClr val="CEE7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648001" cy="1266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0576" y="5099075"/>
            <a:ext cx="5975025" cy="412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302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Rentable</a:t>
            </a:r>
          </a:p>
          <a:p>
            <a:pPr algn="l">
              <a:lnSpc>
                <a:spcPts val="3684"/>
              </a:lnSpc>
            </a:pPr>
          </a:p>
          <a:p>
            <a:pPr algn="l">
              <a:lnSpc>
                <a:spcPts val="3684"/>
              </a:lnSpc>
            </a:pPr>
            <a:r>
              <a:rPr lang="en-US" sz="2302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Réaliste (marché existant)</a:t>
            </a:r>
          </a:p>
          <a:p>
            <a:pPr algn="l">
              <a:lnSpc>
                <a:spcPts val="3684"/>
              </a:lnSpc>
            </a:pPr>
          </a:p>
          <a:p>
            <a:pPr algn="l">
              <a:lnSpc>
                <a:spcPts val="3684"/>
              </a:lnSpc>
            </a:pPr>
            <a:r>
              <a:rPr lang="en-US" sz="2302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Évolutif (yaourt, fromage, grande production)</a:t>
            </a:r>
          </a:p>
          <a:p>
            <a:pPr algn="l">
              <a:lnSpc>
                <a:spcPts val="3364"/>
              </a:lnSpc>
            </a:pPr>
          </a:p>
          <a:p>
            <a:pPr algn="l">
              <a:lnSpc>
                <a:spcPts val="3684"/>
              </a:lnSpc>
            </a:pPr>
            <a:r>
              <a:rPr lang="en-US" sz="2302" spc="20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Le succès dépend surtout de la stratégie et de la gestion, pas de la chance.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460625" y="4971175"/>
            <a:ext cx="6257252" cy="8838"/>
          </a:xfrm>
          <a:prstGeom prst="line">
            <a:avLst/>
          </a:prstGeom>
          <a:ln cap="flat" w="28575">
            <a:solidFill>
              <a:srgbClr val="29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03748" y="4299537"/>
            <a:ext cx="645369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210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CE PROJET EST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8735" y="951424"/>
            <a:ext cx="6538706" cy="136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5"/>
              </a:lnSpc>
              <a:spcBef>
                <a:spcPct val="0"/>
              </a:spcBef>
            </a:pPr>
            <a:r>
              <a:rPr lang="en-US" sz="8004">
                <a:solidFill>
                  <a:srgbClr val="292828"/>
                </a:solidFill>
                <a:latin typeface="Now"/>
                <a:ea typeface="Now"/>
                <a:cs typeface="Now"/>
                <a:sym typeface="Now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508" y="2396889"/>
            <a:ext cx="7705486" cy="137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333" spc="21">
                <a:solidFill>
                  <a:srgbClr val="343434"/>
                </a:solidFill>
                <a:latin typeface="Now"/>
                <a:ea typeface="Now"/>
                <a:cs typeface="Now"/>
                <a:sym typeface="Now"/>
              </a:rPr>
              <a:t>Produire et commercialiser du lait de qualité pour répondre aux besoins du marché local tout en générant des revenus durables.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6508" y="468824"/>
            <a:ext cx="666504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119">
                <a:solidFill>
                  <a:srgbClr val="292828"/>
                </a:solidFill>
                <a:latin typeface="Now Bold"/>
                <a:ea typeface="Now Bold"/>
                <a:cs typeface="Now Bold"/>
                <a:sym typeface="Now Bold"/>
              </a:rPr>
              <a:t>GROUPE... -  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9084" y="3115878"/>
            <a:ext cx="8286304" cy="32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38"/>
              </a:lnSpc>
            </a:pPr>
            <a:r>
              <a:rPr lang="en-US" sz="19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Merci !</a:t>
            </a:r>
          </a:p>
        </p:txBody>
      </p:sp>
      <p:grpSp>
        <p:nvGrpSpPr>
          <p:cNvPr name="Group 3" id="3"/>
          <p:cNvGrpSpPr/>
          <p:nvPr/>
        </p:nvGrpSpPr>
        <p:grpSpPr>
          <a:xfrm rot="4944888">
            <a:off x="4380432" y="-11666638"/>
            <a:ext cx="9826764" cy="21537624"/>
            <a:chOff x="0" y="0"/>
            <a:chExt cx="13102352" cy="28716833"/>
          </a:xfrm>
        </p:grpSpPr>
        <p:sp>
          <p:nvSpPr>
            <p:cNvPr name="Freeform 4" id="4"/>
            <p:cNvSpPr/>
            <p:nvPr/>
          </p:nvSpPr>
          <p:spPr>
            <a:xfrm flipH="false" flipV="false" rot="5459731">
              <a:off x="1879245" y="20793244"/>
              <a:ext cx="7761176" cy="7949063"/>
            </a:xfrm>
            <a:custGeom>
              <a:avLst/>
              <a:gdLst/>
              <a:ahLst/>
              <a:cxnLst/>
              <a:rect r="r" b="b" t="t" l="l"/>
              <a:pathLst>
                <a:path h="7949063" w="7761176">
                  <a:moveTo>
                    <a:pt x="0" y="0"/>
                  </a:moveTo>
                  <a:lnTo>
                    <a:pt x="7761176" y="0"/>
                  </a:lnTo>
                  <a:lnTo>
                    <a:pt x="7761176" y="7949063"/>
                  </a:lnTo>
                  <a:lnTo>
                    <a:pt x="0" y="7949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2462692">
              <a:off x="4612301" y="4987668"/>
              <a:ext cx="6997078" cy="7166467"/>
            </a:xfrm>
            <a:custGeom>
              <a:avLst/>
              <a:gdLst/>
              <a:ahLst/>
              <a:cxnLst/>
              <a:rect r="r" b="b" t="t" l="l"/>
              <a:pathLst>
                <a:path h="7166467" w="6997078">
                  <a:moveTo>
                    <a:pt x="0" y="0"/>
                  </a:moveTo>
                  <a:lnTo>
                    <a:pt x="6997078" y="0"/>
                  </a:lnTo>
                  <a:lnTo>
                    <a:pt x="6997078" y="7166467"/>
                  </a:lnTo>
                  <a:lnTo>
                    <a:pt x="0" y="7166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5994245">
              <a:off x="-8981510" y="11612757"/>
              <a:ext cx="28107854" cy="5390637"/>
              <a:chOff x="0" y="0"/>
              <a:chExt cx="6350000" cy="121782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-6017015">
            <a:off x="4230618" y="-1015182"/>
            <a:ext cx="9826764" cy="21537624"/>
            <a:chOff x="0" y="0"/>
            <a:chExt cx="13102352" cy="28716833"/>
          </a:xfrm>
        </p:grpSpPr>
        <p:sp>
          <p:nvSpPr>
            <p:cNvPr name="Freeform 9" id="9"/>
            <p:cNvSpPr/>
            <p:nvPr/>
          </p:nvSpPr>
          <p:spPr>
            <a:xfrm flipH="false" flipV="false" rot="5459731">
              <a:off x="1879245" y="20793244"/>
              <a:ext cx="7761176" cy="7949063"/>
            </a:xfrm>
            <a:custGeom>
              <a:avLst/>
              <a:gdLst/>
              <a:ahLst/>
              <a:cxnLst/>
              <a:rect r="r" b="b" t="t" l="l"/>
              <a:pathLst>
                <a:path h="7949063" w="7761176">
                  <a:moveTo>
                    <a:pt x="0" y="0"/>
                  </a:moveTo>
                  <a:lnTo>
                    <a:pt x="7761176" y="0"/>
                  </a:lnTo>
                  <a:lnTo>
                    <a:pt x="7761176" y="7949063"/>
                  </a:lnTo>
                  <a:lnTo>
                    <a:pt x="0" y="7949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2462692">
              <a:off x="4612301" y="4987668"/>
              <a:ext cx="6997078" cy="7166467"/>
            </a:xfrm>
            <a:custGeom>
              <a:avLst/>
              <a:gdLst/>
              <a:ahLst/>
              <a:cxnLst/>
              <a:rect r="r" b="b" t="t" l="l"/>
              <a:pathLst>
                <a:path h="7166467" w="6997078">
                  <a:moveTo>
                    <a:pt x="0" y="0"/>
                  </a:moveTo>
                  <a:lnTo>
                    <a:pt x="6997078" y="0"/>
                  </a:lnTo>
                  <a:lnTo>
                    <a:pt x="6997078" y="7166467"/>
                  </a:lnTo>
                  <a:lnTo>
                    <a:pt x="0" y="7166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5994245">
              <a:off x="-8981510" y="11612757"/>
              <a:ext cx="28107854" cy="5390637"/>
              <a:chOff x="0" y="0"/>
              <a:chExt cx="6350000" cy="121782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82550"/>
                <a:ext cx="6350000" cy="1134008"/>
              </a:xfrm>
              <a:custGeom>
                <a:avLst/>
                <a:gdLst/>
                <a:ahLst/>
                <a:cxnLst/>
                <a:rect r="r" b="b" t="t" l="l"/>
                <a:pathLst>
                  <a:path h="1134008" w="6350000">
                    <a:moveTo>
                      <a:pt x="5877560" y="149860"/>
                    </a:moveTo>
                    <a:cubicBezTo>
                      <a:pt x="5786120" y="208280"/>
                      <a:pt x="5713730" y="255270"/>
                      <a:pt x="5556250" y="255270"/>
                    </a:cubicBezTo>
                    <a:cubicBezTo>
                      <a:pt x="5398770" y="255270"/>
                      <a:pt x="5326380" y="209550"/>
                      <a:pt x="5234940" y="149860"/>
                    </a:cubicBezTo>
                    <a:cubicBezTo>
                      <a:pt x="5130800" y="82550"/>
                      <a:pt x="5001260" y="0"/>
                      <a:pt x="4762500" y="0"/>
                    </a:cubicBezTo>
                    <a:cubicBezTo>
                      <a:pt x="4523740" y="0"/>
                      <a:pt x="4394200" y="82550"/>
                      <a:pt x="4290060" y="148590"/>
                    </a:cubicBezTo>
                    <a:cubicBezTo>
                      <a:pt x="4198620" y="207010"/>
                      <a:pt x="4126230" y="254000"/>
                      <a:pt x="3968750" y="254000"/>
                    </a:cubicBezTo>
                    <a:cubicBezTo>
                      <a:pt x="3811270" y="254000"/>
                      <a:pt x="3738880" y="208280"/>
                      <a:pt x="3647440" y="148590"/>
                    </a:cubicBezTo>
                    <a:cubicBezTo>
                      <a:pt x="3543300" y="82550"/>
                      <a:pt x="3413760" y="0"/>
                      <a:pt x="3175000" y="0"/>
                    </a:cubicBezTo>
                    <a:cubicBezTo>
                      <a:pt x="2936240" y="0"/>
                      <a:pt x="2806700" y="82550"/>
                      <a:pt x="2702560" y="148590"/>
                    </a:cubicBezTo>
                    <a:cubicBezTo>
                      <a:pt x="2611120" y="207010"/>
                      <a:pt x="2538730" y="254000"/>
                      <a:pt x="2381250" y="254000"/>
                    </a:cubicBezTo>
                    <a:cubicBezTo>
                      <a:pt x="2223770" y="254000"/>
                      <a:pt x="2151380" y="208280"/>
                      <a:pt x="2059940" y="148590"/>
                    </a:cubicBezTo>
                    <a:cubicBezTo>
                      <a:pt x="1955800" y="82550"/>
                      <a:pt x="1826260" y="0"/>
                      <a:pt x="1587500" y="0"/>
                    </a:cubicBezTo>
                    <a:cubicBezTo>
                      <a:pt x="1348740" y="0"/>
                      <a:pt x="1219200" y="82550"/>
                      <a:pt x="1115060" y="148590"/>
                    </a:cubicBezTo>
                    <a:cubicBezTo>
                      <a:pt x="1023620" y="207010"/>
                      <a:pt x="951230" y="254000"/>
                      <a:pt x="793750" y="254000"/>
                    </a:cubicBezTo>
                    <a:cubicBezTo>
                      <a:pt x="636270" y="254000"/>
                      <a:pt x="563880" y="208280"/>
                      <a:pt x="472440" y="148590"/>
                    </a:cubicBezTo>
                    <a:cubicBezTo>
                      <a:pt x="368300" y="82550"/>
                      <a:pt x="238760" y="0"/>
                      <a:pt x="0" y="0"/>
                    </a:cubicBezTo>
                    <a:lnTo>
                      <a:pt x="0" y="1134008"/>
                    </a:lnTo>
                    <a:lnTo>
                      <a:pt x="6350000" y="1134008"/>
                    </a:lnTo>
                    <a:lnTo>
                      <a:pt x="6350000" y="0"/>
                    </a:lnTo>
                    <a:cubicBezTo>
                      <a:pt x="6111240" y="0"/>
                      <a:pt x="5981700" y="82550"/>
                      <a:pt x="5877560" y="149860"/>
                    </a:cubicBezTo>
                    <a:close/>
                  </a:path>
                </a:pathLst>
              </a:custGeom>
              <a:solidFill>
                <a:srgbClr val="B6D3EF"/>
              </a:solid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DAHESk0Yp3Q</dc:identifier>
  <dcterms:modified xsi:type="dcterms:W3CDTF">2011-08-01T06:04:30Z</dcterms:modified>
  <cp:revision>1</cp:revision>
  <dc:title>Présentation Business Plan Stratégie Marque Entreprise Beige</dc:title>
</cp:coreProperties>
</file>